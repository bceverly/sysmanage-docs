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D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ysmanag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914400"/>
            <a:ext cx="4846320" cy="13217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27432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Cross-Platform System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8404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BDEFB"/>
                </a:solidFill>
                <a:latin typeface="Arial"/>
              </a:rPr>
              <a:t>Manage every host, every OS, from one platform.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4846320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</a:rPr>
              <a:t>February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4572000"/>
            <a:ext cx="3017520" cy="36576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Oval 5"/>
          <p:cNvSpPr/>
          <p:nvPr/>
        </p:nvSpPr>
        <p:spPr>
          <a:xfrm>
            <a:off x="1097280" y="137160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3716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6420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What is SysManage &amp; architecture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417320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~10 min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219456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19456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48716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Open source + Pro+ capabilities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2240279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~8 min</a:t>
            </a:r>
          </a:p>
        </p:txBody>
      </p:sp>
      <p:sp>
        <p:nvSpPr>
          <p:cNvPr id="14" name="Oval 13"/>
          <p:cNvSpPr/>
          <p:nvPr/>
        </p:nvSpPr>
        <p:spPr>
          <a:xfrm>
            <a:off x="1097280" y="301752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175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10127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Security-first design &amp; dev process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3063239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~5 min</a:t>
            </a:r>
          </a:p>
        </p:txBody>
      </p:sp>
      <p:sp>
        <p:nvSpPr>
          <p:cNvPr id="18" name="Oval 17"/>
          <p:cNvSpPr/>
          <p:nvPr/>
        </p:nvSpPr>
        <p:spPr>
          <a:xfrm>
            <a:off x="1097280" y="384048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8404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Live 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13308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Hands-on walkthrough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3886200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~30 min</a:t>
            </a:r>
          </a:p>
        </p:txBody>
      </p:sp>
      <p:sp>
        <p:nvSpPr>
          <p:cNvPr id="22" name="Oval 21"/>
          <p:cNvSpPr/>
          <p:nvPr/>
        </p:nvSpPr>
        <p:spPr>
          <a:xfrm>
            <a:off x="1097280" y="466344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6634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Futures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95604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Roadmap to v3.0.0.0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0" y="4709159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~5 min</a:t>
            </a:r>
          </a:p>
        </p:txBody>
      </p:sp>
      <p:sp>
        <p:nvSpPr>
          <p:cNvPr id="26" name="Oval 25"/>
          <p:cNvSpPr/>
          <p:nvPr/>
        </p:nvSpPr>
        <p:spPr>
          <a:xfrm>
            <a:off x="1097280" y="548640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4864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Recap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77900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Key takeaways &amp; resources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0" y="5532120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~2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Heterogeneous OS estates — Linux, macOS, Windows, *BSD all in one environment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Security &amp; compliance requirements — SOC2, HIPAA, FedRAMP, CIS, DISA STIG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Agent sprawl — separate tools for monitoring, patching, compliance, secrets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Manual toil — SSH loops, ad-hoc scripts, no audit trail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No single pane of glass — context-switching between dashboards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Commercial lock-in — expensive per-host licensing with opaque code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What is SysManage?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Server + Agent architecture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Central server manages distributed agents on every host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Real-time WebSocket communication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Live metrics, status updates, and command execution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FastAPI backend + React frontend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Modern Python API with responsive web UI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PostgreSQL database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Reliable, scalable data store for all host &amp; config data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AGPLv3 open source core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Transparent, auditable, community-driven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Pro+ commercial modules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Enterprise features with Cython-compiled add-ons</a:t>
            </a:r>
          </a:p>
        </p:txBody>
      </p:sp>
      <p:pic>
        <p:nvPicPr>
          <p:cNvPr id="7" name="Picture 6" descr="sysmanage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8288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Who is SysManage? — Bryan Everly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pic>
        <p:nvPicPr>
          <p:cNvPr id="6" name="Picture 5" descr="bryan-ever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143000"/>
            <a:ext cx="1371600" cy="1371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234440"/>
            <a:ext cx="2743200" cy="4572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Founder &amp; CEO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Software Artistry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Early employee → Dir. of Worldwide Product Dev  •  IPO 1995  •  Sold to IBM/Tivoli 1998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IBM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Led global engineering team post-acquisition (3 years)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SaaS Founder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Founded &amp; sold a SaaS company securing sensitive HR data (~8 years)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ExactTarget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Engineering leader (1/3 of technology team)  •  Acquired by Salesforce (now Salesforce Marketing Cloud)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Aprimo / Teradata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VP of Worldwide Engineering  •  $525M acquisition by Teradata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NextGear Capital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CTO  •  Built dev org from scratch  •  Grew loan volume $1.6B → $3.2B  •  CTO of the Year (IBJ/TechPoint)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Cox Automotive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CTO &amp; CISO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Cummins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Chief Enterprise Architect &amp; Exec. Dir. Software Engineering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Canonical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VP of Software Engineering  •  Ubuntu, IoT, real-time Linux, HPC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A2332"/>
                </a:solidFill>
                <a:latin typeface="Arial"/>
              </a:rPr>
              <a:t>M.S. Cybersecurity, UC Berkeley  •  B.S. Computer Science, Indiana State  •  OpenBSD Ports Maintainer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Who is SysManage? — Fedor Dikarev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pic>
        <p:nvPicPr>
          <p:cNvPr id="6" name="Picture 5" descr="fedor-dikare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143000"/>
            <a:ext cx="1371600" cy="1371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234440"/>
            <a:ext cx="4114800" cy="4572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Lead SRE / CI/CD Engineer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NGINX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Infrastructure and operations engineering at NGINX, the world's most widely deployed web server and reverse proxy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Databricks (via Neon acquisition)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Infrastructure engineer at Databricks following the ~$1B acquisition of Neon, the serverless Postgres company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Neon — Serverless Postgres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Member of Technical Staff  •  Led CI/CD infrastructure migration and cost optimization  •  Reduced cloud CI costs by 50%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Infrastructure &amp; DevOps Expertise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Deep experience with AWS, Docker, Kubernetes, Prometheus monitoring, and high-availability architectures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CI/CD &amp; Automation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Designed and operated large-scale CI pipelines  •  GitHub Actions, ephemeral runners, caching optimization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Based in Germany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European engineering perspective and timezone coverage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Growth Strategy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029200" cy="274320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Venture Capital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In active discussions with a European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venture capital fund focused on open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source and infrastructure software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27432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Advisory Network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Engaging potential advisors from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proven open source → commercial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success stories including NGINX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and WordPress ecosystems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72000"/>
            <a:ext cx="10698480" cy="1371600"/>
          </a:xfrm>
          <a:prstGeom prst="roundRect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 Source → Commercial Playbook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AGPLv3 core builds community trust &amp; adoption  →  Pro+ tiers monetize enterprise needs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Following the proven model: open core + commercial extensions + enterprise support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926080" cy="182880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SysManage Agent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Local DB (SQLite)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System 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19456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976D2"/>
                </a:solidFill>
                <a:latin typeface="Arial"/>
              </a:rPr>
              <a:t>mTLS</a:t>
            </a:r>
          </a:p>
          <a:p>
            <a:pPr algn="ctr"/>
            <a:r>
              <a:rPr sz="1600" b="1">
                <a:solidFill>
                  <a:srgbClr val="1976D2"/>
                </a:solidFill>
                <a:latin typeface="Arial"/>
              </a:rPr>
              <a:t>← 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371600"/>
            <a:ext cx="3931920" cy="274320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SysManage Server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FastAPI Backend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React Frontend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WebSocket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4572000"/>
            <a:ext cx="3931920" cy="7315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PostgreSQL Database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0" y="1371600"/>
            <a:ext cx="2103120" cy="2743200"/>
          </a:xfrm>
          <a:prstGeom prst="roundRect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Pro+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Modules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Health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Compliance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Reporting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Secrets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CVE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4206240" cy="109728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Message Queue Architecture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All agent ↔ server communication is queued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to the database. Background threads process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messages — no data loss on crash or restart.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Cross-Platform Support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2286000"/>
                <a:gridCol w="22860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Operating System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Server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Agent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Linux (Ubuntu, Debian, RHEL, Alpine, etc.)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macOS (13+)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Windows (10/11, Server 2019+)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FreeBSD (13+)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OpenBSD (7.4+)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NetBSD (10+)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Packaging Formats &amp; OS Versions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9144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Format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OS / Distro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Versions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.deb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Ubuntu, Debian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20.04+, Bookworm+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.rpm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RHEL, Fedora, SUSE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8+, 38+, 15+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.pkg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macOS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13 Ventura+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.msi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Windows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10/11, Server 2019+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.snap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Ubuntu/Snapcraft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Core 22+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.flatpak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Linux (universal)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Flathub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.apk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Alpine Linux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3.18+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.tgz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FreeBSD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13+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OpenBSD, NetBSD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7.4+ / 10+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Internationalization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46304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English  (en)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46304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French  (fr)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46304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German  (de)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19456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Spanish  (es)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19456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Italian  (it)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19456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Portuguese  (pt)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92608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Dutch  (nl)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92608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Russian  (ru)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92608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Chinese (Simplified)  (zh)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65760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Japanese  (ja)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365760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Korean  (ko)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365760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Hindi  (hi)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389120"/>
            <a:ext cx="3108960" cy="50292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Arabic (RTL)  (ar)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438912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Turkish  (tr)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035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Full UI + backend message localization  •  RTL support for Arabic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Open Source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Host management — register, organize, tag, and monitor all hosts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Software inventory — full package listing per host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Update detection — identify available OS and package updates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Package management — install, remove, upgrade packages remotely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Repository management — configure package sources across hosts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Certificate monitoring — track TLS certificate expiration dates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Firewall &amp; AV status — verify security posture at a glance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Role-Based Access Control — Admin, Operator, Viewer roles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User management — create, modify, deactivate user accounts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Tagging system — flexible host categorization and filtering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Open Source: Monitoring &amp;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Real-time CPU, RAM, disk, and network metrics via WebSocket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System uptime and last-seen tracking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OS identification and version detection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Storage inventory — partitions, mount points, usage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Ubuntu Pro integration — ESM status and entitlements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Host detail dashboard with at-a-glance health overview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WebSocket-driven live updates — no polling, no page refresh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Pro+ Licensing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029200" cy="41148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Professional Tier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Health Engine (AI-powered)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Compliance Engine (CIS/STIG)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Reporting Engine (PDF/HTML)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Audit Engine (tamper-evident)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Secrets Engine (OpenBAO)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Container Engine (LXD/WSL)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CVE Vulnerability Engine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Alerting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029200" cy="411480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Enterprise Tier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Everything in Professional, plus: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AV Management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Firewall Orchestration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Virtualization (KVM/bhyve/VMM)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Observability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Automation &amp; Fleet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Air-Gapped Support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MFA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607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666666"/>
                </a:solidFill>
                <a:latin typeface="Arial"/>
              </a:rPr>
              <a:t>ECDSA P-521 license validation  •  Feature gating  •  Host count enforcement  •  Cython-compiled modules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Pro+ Professional 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proplus_core — license validation, feature gating, module loader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health_engine — AI-powered system health analysis and recommendations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compliance_engine — CIS Benchmarks and DISA STIG auditing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reporting_engine — PDF and HTML report generation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audit_engine — tamper-evident audit logging with hash chains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secrets_engine — OpenBAO-backed encrypted secrets management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container_engine — LXD and WSL container management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Pro+ Enterprise 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vuln_engine — CVE vulnerability scanning and tracking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alerting_engine — Email, Webhook, Slack, and Teams notifications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Upcoming enterprise modules: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AV management — centralized antivirus policy and status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Firewall orchestration — cross-platform firewall rule management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Virtualization — KVM, bhyve, VMM hypervisor management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Observability — centralized log and metric aggregation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Automation &amp; Fleet — task scheduling and fleet-wide operations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Air-gapped support — offline/disconnected environment management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MFA — multi-factor authentication for the management console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Ecosystem Integrations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2377440" cy="292608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Secrets &amp; Key Mgmt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234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OpenBAO / Vault</a:t>
            </a:r>
            <a:r>
              <a:rPr sz="800" b="0">
                <a:solidFill>
                  <a:srgbClr val="666666"/>
                </a:solidFill>
                <a:latin typeface="Arial"/>
              </a:rPr>
              <a:t> — Encrypted secrets, API keys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36776"/>
            <a:ext cx="2377440" cy="292608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Observability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6367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OpenTelemetry</a:t>
            </a:r>
            <a:r>
              <a:rPr sz="800" b="0">
                <a:solidFill>
                  <a:srgbClr val="666666"/>
                </a:solidFill>
                <a:latin typeface="Arial"/>
              </a:rPr>
              <a:t> — Distributed tracing &amp;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19293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Grafana</a:t>
            </a:r>
            <a:r>
              <a:rPr sz="800" b="0">
                <a:solidFill>
                  <a:srgbClr val="666666"/>
                </a:solidFill>
                <a:latin typeface="Arial"/>
              </a:rPr>
              <a:t> — Dashboard visualization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22199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Prometheus</a:t>
            </a:r>
            <a:r>
              <a:rPr sz="800" b="0">
                <a:solidFill>
                  <a:srgbClr val="666666"/>
                </a:solidFill>
                <a:latin typeface="Arial"/>
              </a:rPr>
              <a:t> — Metrics collection &amp; querying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5146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Graylog</a:t>
            </a:r>
            <a:r>
              <a:rPr sz="800" b="0">
                <a:solidFill>
                  <a:srgbClr val="666666"/>
                </a:solidFill>
                <a:latin typeface="Arial"/>
              </a:rPr>
              <a:t> — Log aggregation (GELF, syslog)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880360"/>
            <a:ext cx="2377440" cy="292608"/>
          </a:xfrm>
          <a:prstGeom prst="roundRect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Vulnerability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8803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NIST NVD</a:t>
            </a:r>
            <a:r>
              <a:rPr sz="800" b="0">
                <a:solidFill>
                  <a:srgbClr val="666666"/>
                </a:solidFill>
                <a:latin typeface="Arial"/>
              </a:rPr>
              <a:t> — National Vulnerability 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31729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Ubuntu / Debian / RHEL / MSRC / FreeBSD</a:t>
            </a:r>
            <a:r>
              <a:rPr sz="800" b="0">
                <a:solidFill>
                  <a:srgbClr val="666666"/>
                </a:solidFill>
                <a:latin typeface="Arial"/>
              </a:rPr>
              <a:t> — OS-specific advisories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1234440"/>
            <a:ext cx="2377440" cy="292608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Platform &amp; Virtualization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234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Ubuntu Pro</a:t>
            </a:r>
            <a:r>
              <a:rPr sz="800" b="0">
                <a:solidFill>
                  <a:srgbClr val="666666"/>
                </a:solidFill>
                <a:latin typeface="Arial"/>
              </a:rPr>
              <a:t> — ESM, patching, 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15270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LXD / Incus</a:t>
            </a:r>
            <a:r>
              <a:rPr sz="800" b="0">
                <a:solidFill>
                  <a:srgbClr val="666666"/>
                </a:solidFill>
                <a:latin typeface="Arial"/>
              </a:rPr>
              <a:t> — Container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18196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KVM / bhyve / VMM</a:t>
            </a:r>
            <a:r>
              <a:rPr sz="800" b="0">
                <a:solidFill>
                  <a:srgbClr val="666666"/>
                </a:solidFill>
                <a:latin typeface="Arial"/>
              </a:rPr>
              <a:t> — Hypervisor management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2185416"/>
            <a:ext cx="2377440" cy="292608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Notifications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18541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SMTP / Email</a:t>
            </a:r>
            <a:r>
              <a:rPr sz="800" b="0">
                <a:solidFill>
                  <a:srgbClr val="666666"/>
                </a:solidFill>
                <a:latin typeface="Arial"/>
              </a:rPr>
              <a:t> — Alert delivery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247802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Webhooks / Slack / Teams</a:t>
            </a:r>
            <a:r>
              <a:rPr sz="800" b="0">
                <a:solidFill>
                  <a:srgbClr val="666666"/>
                </a:solidFill>
                <a:latin typeface="Arial"/>
              </a:rPr>
              <a:t> — Real-time notifications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0" y="2843784"/>
            <a:ext cx="2377440" cy="292608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Firewalls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28437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UFW / iptables / nftables / PF</a:t>
            </a:r>
            <a:r>
              <a:rPr sz="800" b="0">
                <a:solidFill>
                  <a:srgbClr val="666666"/>
                </a:solidFill>
                <a:latin typeface="Arial"/>
              </a:rPr>
              <a:t> — Cross-platform firewall mgmt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1A2332"/>
                </a:solidFill>
                <a:latin typeface="Arial"/>
              </a:rPr>
              <a:t>SysManage integrates — not replaces — best-of-breed tools in each category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Why Security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Privileged access to every managed host — a compromised management platform is catastrophic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Credential store — secrets engine holds sensitive keys and passwords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Attack surface amplification — one server connects to hundreds of agents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Compliance mandates — SOC2, HIPAA, FedRAMP require secure management tooling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Supply chain risk — management software is a high-value target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Audit requirements — every action must be traceable and tamper-evident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Scalability testing in CI/CD — load testing in the pipeline to reduce DDoS attack impact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Security-First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mTLS agent communication — mutual TLS for all server-agent traffic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JWT authentication with rotation — short-lived tokens, automatic refresh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No inbound agent ports — agents connect outbound only, reducing attack surface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UUID primary keys — prevents enumeration attacks on API endpoints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OpenBAO encrypted secrets — HashiCorp Vault-compatible secrets management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ECDSA P-521 license signing — cryptographically secure license validation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TLS 1.2+ enforced — no legacy protocol support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Cython-compiled Pro+ modules — source code protection for commercial features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Security in the Development Process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Bandit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Python security linter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7160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Semgrep Pro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Static analysis 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37160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SonarCloud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Code quality &amp; security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6888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CodeQL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Semantic code analysis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46888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Safety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Dependency vulnerability check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46888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Snyk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 source security scanning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6616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TruffleHog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Secret detection in commits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56616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Black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Deterministic code formatting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56616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PyLint 10/10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Code quality enforcement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66344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Dependabot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Automated dependency updates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466344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Pinned GH Actions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SHA-pinned CI/CD actions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66344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Playwright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End-to-end UI testing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Software Bill of Materials (SBOM)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029200" cy="320040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What &amp; Why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CycloneDX JSON format (v1.6)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Full dependency inventory for every release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Supply chain transparency &amp; auditability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Separate SBOMs for backend (Python)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    and frontend (Node.js) components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Agent packages include their own SBOM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32004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Generation &amp; Distribution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Automated via CI/CD on every build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cyclonedx-bom (Python dependencies)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@cyclonedx/cyclonedx-npm (Node.js)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Published as GitHub release artifacts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Bundled inside every installer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    (.deb, .rpm, .msi, .pkg, .snap, .tgz, ...)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937760"/>
            <a:ext cx="10698480" cy="914400"/>
          </a:xfrm>
          <a:prstGeom prst="roundRect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Compatible with: Grype  •  Trivy  •  Dependency-Track  •  Snyk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Inspect locally:  jq . backend-sbom.json  |  jq '.components | length'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Demo Sequence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430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976D2"/>
                </a:solidFill>
                <a:latin typeface="Arial"/>
              </a:rPr>
              <a:t>Open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1430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47"/>
                </a:solidFill>
                <a:latin typeface="Arial"/>
              </a:rPr>
              <a:t>Pro+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1417320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80744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Dashboard &amp; Host Overview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Navigate the main dashboard, view registered hosts and status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039112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002536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Host Detail Deep-Dive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Live CPU/RAM/disk/network metrics, OS info, uptime, storage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2660904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624328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Software Inventory &amp; Updates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View installed packages, detect available updates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282696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246120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Package Management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Install and remove a package remotely from the browser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904488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867912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User Management &amp; RBAC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Create a user, assign roles (Admin/Operator/Viewer)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4526280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489704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Settings &amp; Configuration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Server configuration, agent settings, preferences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5148072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111496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Multi-Language Switching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Switch UI language live across supported locales</a:t>
            </a:r>
          </a:p>
        </p:txBody>
      </p:sp>
      <p:sp>
        <p:nvSpPr>
          <p:cNvPr id="22" name="Oval 21"/>
          <p:cNvSpPr/>
          <p:nvPr/>
        </p:nvSpPr>
        <p:spPr>
          <a:xfrm>
            <a:off x="5943600" y="1417320"/>
            <a:ext cx="347472" cy="347472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1380744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Health Analysis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AI-powered system health scoring and recommendations</a:t>
            </a:r>
          </a:p>
        </p:txBody>
      </p:sp>
      <p:sp>
        <p:nvSpPr>
          <p:cNvPr id="24" name="Oval 23"/>
          <p:cNvSpPr/>
          <p:nvPr/>
        </p:nvSpPr>
        <p:spPr>
          <a:xfrm>
            <a:off x="5943600" y="2039112"/>
            <a:ext cx="347472" cy="347472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2002536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Compliance Audit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Run CIS Benchmark / DISA STIG checks against a host</a:t>
            </a:r>
          </a:p>
        </p:txBody>
      </p:sp>
      <p:sp>
        <p:nvSpPr>
          <p:cNvPr id="26" name="Oval 25"/>
          <p:cNvSpPr/>
          <p:nvPr/>
        </p:nvSpPr>
        <p:spPr>
          <a:xfrm>
            <a:off x="5943600" y="2660904"/>
            <a:ext cx="411480" cy="411480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624328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PDF Report Generation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Generate and download a formatted compliance report</a:t>
            </a:r>
          </a:p>
        </p:txBody>
      </p:sp>
      <p:sp>
        <p:nvSpPr>
          <p:cNvPr id="28" name="Oval 27"/>
          <p:cNvSpPr/>
          <p:nvPr/>
        </p:nvSpPr>
        <p:spPr>
          <a:xfrm>
            <a:off x="5943600" y="3282696"/>
            <a:ext cx="411480" cy="411480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246120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Secrets Management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Store and retrieve secrets via OpenBAO integration</a:t>
            </a:r>
          </a:p>
        </p:txBody>
      </p:sp>
      <p:sp>
        <p:nvSpPr>
          <p:cNvPr id="30" name="Oval 29"/>
          <p:cNvSpPr/>
          <p:nvPr/>
        </p:nvSpPr>
        <p:spPr>
          <a:xfrm>
            <a:off x="5943600" y="3904488"/>
            <a:ext cx="411480" cy="411480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3867912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Container Management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View and manage LXD containers on a host</a:t>
            </a:r>
          </a:p>
        </p:txBody>
      </p:sp>
      <p:sp>
        <p:nvSpPr>
          <p:cNvPr id="32" name="Oval 31"/>
          <p:cNvSpPr/>
          <p:nvPr/>
        </p:nvSpPr>
        <p:spPr>
          <a:xfrm>
            <a:off x="5943600" y="4526280"/>
            <a:ext cx="411480" cy="411480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4489704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CVE Vulnerability Scan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Scan host packages against the CVE database</a:t>
            </a:r>
          </a:p>
        </p:txBody>
      </p:sp>
      <p:sp>
        <p:nvSpPr>
          <p:cNvPr id="34" name="Oval 33"/>
          <p:cNvSpPr/>
          <p:nvPr/>
        </p:nvSpPr>
        <p:spPr>
          <a:xfrm>
            <a:off x="5943600" y="5148072"/>
            <a:ext cx="411480" cy="411480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5111496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Alerting Configuration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Configure Email, Webhook, Slack, and Teams alerts</a:t>
            </a:r>
          </a:p>
        </p:txBody>
      </p:sp>
      <p:sp>
        <p:nvSpPr>
          <p:cNvPr id="36" name="Oval 35"/>
          <p:cNvSpPr/>
          <p:nvPr/>
        </p:nvSpPr>
        <p:spPr>
          <a:xfrm>
            <a:off x="5943600" y="5769864"/>
            <a:ext cx="411480" cy="411480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5733288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Audit Log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Browse tamper-evident audit trail with hash chain verification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D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ysmanage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097280"/>
            <a:ext cx="2103120" cy="21031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32004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4754880"/>
            <a:ext cx="6400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BBDEFB"/>
                </a:solidFill>
                <a:latin typeface="Arial"/>
              </a:rPr>
              <a:t>30 Minutes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4572000"/>
            <a:ext cx="3017520" cy="36576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What You Just Saw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Real-time monitoring — live CPU, RAM, disk, network metrics via WebSocket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Cross-platform agents — same management experience on Linux, macOS, Windows, *BSD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One-click operations — package installs, user management, settings from the browser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Pro+ intelligence layer — AI health analysis, CIS/STIG compliance, CVE scanning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Enterprise-grade security — mTLS, tamper-evident audit logs, encrypted secrets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Internationalized UI — seamless language switching across 14 languages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Codebase &amp; Development History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201168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22 Months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Under Development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188720"/>
            <a:ext cx="201168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1M+ Lines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of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188720"/>
            <a:ext cx="201168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2,400+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Commits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188720"/>
            <a:ext cx="201168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72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Release Tags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0" y="1188720"/>
            <a:ext cx="201168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4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Repositories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2286000"/>
          <a:ext cx="109728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4572000"/>
                <a:gridCol w="1828800"/>
              </a:tblGrid>
              <a:tr h="3200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Repository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Started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Commits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sysmanage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Apr 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Server: FastAPI + React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1,047 commits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sysmanage-agent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Apr 2024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Agent: Python cross-platform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863 commits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sysmanage-docs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Sep 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Docs site + packaging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334 commits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sysmanage-professional-plus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Jan 2026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Pro+ Cython modules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171 commits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457200" y="4389120"/>
            <a:ext cx="347472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Server DB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74 tables • 799 columns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4389120"/>
            <a:ext cx="347472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Agent DB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7 tables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4389120"/>
            <a:ext cx="347472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Test Suite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775 files • 271K lines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3D5C"/>
                </a:solidFill>
                <a:latin typeface="Arial"/>
              </a:rPr>
              <a:t>Development velocity:  </a:t>
            </a:r>
            <a:r>
              <a:rPr sz="1100" b="0">
                <a:solidFill>
                  <a:srgbClr val="666666"/>
                </a:solidFill>
                <a:latin typeface="Arial"/>
              </a:rPr>
              <a:t>Q2 2024 → project start  |  Q3-Q4 2025 → major feature build (730+ commits)  |  Q1 2026 → Pro+ launch + stabilization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Roadmap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v0.9.0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Foundation
+ Core Platform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v0.9.1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CI/CD
&amp; Quality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v0.9.2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Mgmt
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v1.0.0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Child Host
Foundation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v1.0.1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Virtualization
Expansion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v1.0.2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Platform
Maturity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v1.1.0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Pro+
Launch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960120"/>
            <a:ext cx="2743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666666"/>
                </a:solidFill>
                <a:latin typeface="Arial"/>
              </a:rPr>
              <a:t>Shipped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2468880"/>
            <a:ext cx="1508760" cy="141732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Phase 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v1.2.0.0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Stabilization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✓ Done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38528" y="2468880"/>
            <a:ext cx="1508760" cy="141732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Phase 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v1.3.0.0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Pro+ Prof.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✓ Done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02736" y="2468880"/>
            <a:ext cx="1508760" cy="14173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Phase 3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v1.4.0.0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AV + Firewall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Apr 2026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66944" y="2468880"/>
            <a:ext cx="1508760" cy="14173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Phase 4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v1.5.0.0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Stabilization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May 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31152" y="2468880"/>
            <a:ext cx="1508760" cy="14173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Phase 5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v1.6.0.0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Auto + Fleet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May-Jun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5360" y="2468880"/>
            <a:ext cx="1508760" cy="14173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Phase 6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v1.7.0.0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Stabilization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Jun 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59568" y="2468880"/>
            <a:ext cx="1508760" cy="14173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Phase 7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v1.8.0.0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Stab. RC1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Jun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4160520"/>
            <a:ext cx="1508760" cy="14173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Phase 8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v2.0.0.0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Foundation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Jul 2026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38528" y="4160520"/>
            <a:ext cx="1508760" cy="14173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Phase 9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v2.1.0.0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Stab. RC2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Aug 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02736" y="4160520"/>
            <a:ext cx="1508760" cy="14173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Phase 10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v2.2.0.0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Virt+Obs+MFA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Dec 2026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266944" y="4160520"/>
            <a:ext cx="1508760" cy="14173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Phase 11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v2.3.0.0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Air-Gapped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Jan 2027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31152" y="4160520"/>
            <a:ext cx="1508760" cy="14173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Phase 12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v2.4.0.0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Federation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Feb 2027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95360" y="4160520"/>
            <a:ext cx="1508760" cy="14173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Phase 13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v3.0.0.0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Enterprise GA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Mar 2027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98932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0D3D5C"/>
                </a:solidFill>
                <a:latin typeface="Arial"/>
              </a:rPr>
              <a:t>Target: v3.0.0.0 Enterprise GA — Q1 2027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Futures: Near-Term (Phases 3–5)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9601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5486400"/>
                <a:gridCol w="1828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Version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v1.4.0.0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AV Management + Firewall Orchestration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Apr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v1.5.0.0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Stabilization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May 2026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v1.6.0.0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Automation + Fleet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May-Jun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Futures: Mid-Term (Phases 6–9)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9601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5486400"/>
                <a:gridCol w="1828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Version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v1.7.0.0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Stabilization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Jun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v1.8.0.0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Stabilization RC1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Jun 2026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v2.0.0.0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Foundation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Jul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v2.1.0.0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Stabilization RC2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Aug 2026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Futures: Long-Term (Phases 10–13)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9601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5486400"/>
                <a:gridCol w="1828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Version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v2.2.0.0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Virtualization + Observability + MFA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Dec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v2.3.0.0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Air-Gapped Support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Jan 2027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v2.4.0.0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Multi-Site Federation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Feb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v3.0.0.0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Enterprise GA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Mar 2027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Key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3258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Cross-Platform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916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6 operating systems — Linux, macOS, Windows, FreeBSD, OpenBSD, NetBSD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3172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2860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Security-First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6517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mTLS, JWT rotation, tamper-evident auditing, encrypted secrets, zero inbound agent ports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9184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2461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Open Source 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6118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AGPLv3 — transparent, auditable, community-driven foundation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5196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42062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Commercial Pro+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5720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Professional &amp; Enterprise tiers for compliance, AI health, CVE scanning, and more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21208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166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Active Roadmap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5321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12-phase plan targeting v3.0.0.0 Enterprise GA in Q1 2027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Partnership Opportunities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029200" cy="320040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Customers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Organizations managing heterogeneous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    OS estates (Linux, macOS, Windows, *BSD)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Compliance-driven environments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    (SOC2, HIPAA, FedRAMP, CIS, DISA STIG)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Teams replacing expensive commercial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    management tools with open source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MSPs and IT service providers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32004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Channel Partners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Managed service providers (MSPs)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Systems integrators &amp; consultancies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Value-added resellers (VARs)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Cloud hosting providers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Security &amp; compliance consultancies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Regional technology distributors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10698480" cy="914400"/>
          </a:xfrm>
          <a:prstGeom prst="roundRect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We're actively seeking both direct customers and channel partners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 source core lowers barrier to entry  •  Pro+ tiers create partner revenue opportunities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D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ysmanag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914400"/>
            <a:ext cx="4846320" cy="13217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2743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114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>
                <a:solidFill>
                  <a:srgbClr val="BBDEFB"/>
                </a:solidFill>
                <a:latin typeface="Arial"/>
              </a:rPr>
              <a:t>sysmanage.org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502920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Arial"/>
              </a:rPr>
              <a:t>Licensed under AGPLv3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