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743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Cross-Platform System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  <a:latin typeface="Arial"/>
              </a:rPr>
              <a:t>Manage every host, every OS, from one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8463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</a:rPr>
              <a:t>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13716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642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What is SysManage &amp;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4173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~10 min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19456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1945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8716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Open source + Pro+ capabilities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24027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~8 min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10127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Security-first design &amp; dev process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306323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384048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13308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Hands-on walkthrough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88620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~30 min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466344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6634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Futures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5604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Roadmap to v3.0.0.0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70915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26" name="Oval 25"/>
          <p:cNvSpPr/>
          <p:nvPr/>
        </p:nvSpPr>
        <p:spPr>
          <a:xfrm>
            <a:off x="1097280" y="54864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4864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Recap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7790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Key takeaways &amp; 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55321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Heterogeneous OS estates — Linux, macOS, Windows, *BSD all in one environment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Security &amp; compliance requirements — SOC2, HIPAA, FedRAMP, CIS, DISA STIG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Agent sprawl — separate tools for monitoring, patching, compliance,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Manual toil — SSH loops, ad-hoc scripts, no audit trail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single pane of glass — context-switching between dashboards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Commercial lock-in — expensive per-host licensing with opaque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is SysManage?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Server + Agent architecture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Central server manages distributed agents on every host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Real-time WebSocket communication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Live metrics, status updates, and command execution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FastAPI backend + React frontend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Modern Python API with responsive web UI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PostgreSQL database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Reliable, scalable data store for all host &amp; config data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AGPLv3 open source core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Transparent, auditable, community-driven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Pro+ commercial modules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Enterprise features with Cython-compiled add-ons</a:t>
            </a:r>
          </a:p>
        </p:txBody>
      </p:sp>
      <p:pic>
        <p:nvPicPr>
          <p:cNvPr id="7" name="Picture 6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Bryan Everly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7432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Founder &amp; CEO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Software Artistry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Early employee → Dir. of Worldwide Product Dev  •  IPO 1995  •  Sold to IBM/Tivoli 1998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IBM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Led global engineering team post-acquisition (3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SaaS Founder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Founded &amp; sold a SaaS company securing sensitive HR data (~8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ExactTarget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Engineering leader (1/3 of technology team)  •  Later acquired by Salesforce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Aprimo / Teradata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Worldwide Engineering  •  $525M acquisition by Teradata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NextGear Capital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 •  Built dev org from scratch  •  Grew loan volume $1.6B → $3.2B  •  CTO of the Year (IBJ/TechPoint)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Cox Automotive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&amp; CISO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Cummins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Chief Enterprise Architect &amp; Exec. Dir. Software Engineering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Canonical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Software Engineering  •  Ubuntu, IoT, real-time Linux, HPC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332"/>
                </a:solidFill>
                <a:latin typeface="Arial"/>
              </a:rPr>
              <a:t>M.S. Cybersecurity, UC Berkeley  •  B.S. Computer Science, Indiana State  •  OpenBSD Ports Maintainer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Fedor Dikarev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41148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Lead SRE / CI/CD Engineer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Databricks (via Neon acquisition)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engineer at Databricks following the ~$1B acquisition of Neon, the serverless Postgres company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Neon — Serverless Postgres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Member of Technical Staff  •  Led CI/CD infrastructure migration and cost optimization  •  Reduced cloud CI costs by 50%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Infrastructure &amp; DevOps Expertise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Deep experience with AWS, Docker, Kubernetes, Prometheus monitoring, and high-availability architectures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CI/CD &amp; Automation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Designed and operated large-scale continuous integration pipelines  •  GitHub Actions, ephemeral runners, caching optimization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Open Source Contributor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Active GitHub contributor  •  Published tools for AWS HA, Docker Swarm service registration, and Prometheus metrics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Based in Germany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Bringing European engineering perspective and timezone coverage to the team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Growth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In active discussions with a European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 fund focused on open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source and infrastructure software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Advisory Network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Engaging potential advisors from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proven open source →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success stories including NGINX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and WordPress ecosystems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716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→ Commercial Playbook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AGPLv3 core builds community trust &amp; adoption  →  Pro+ tiers monetize enterprise needs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Following the proven model: open core + commercial extensions + enterprise support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1645920"/>
            <a:ext cx="3931920" cy="256032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SysManage Server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FastAPI Backend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React Frontend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WebSocket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4754880"/>
            <a:ext cx="3931920" cy="7315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PostgreSQL Database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2560320" cy="1645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SysManage Agent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Local DB (SQLite)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System Metrics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2011680"/>
            <a:ext cx="2560320" cy="1645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SysManage Agent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Local DB (SQLite)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System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2860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976D2"/>
                </a:solidFill>
                <a:latin typeface="Arial"/>
              </a:rPr>
              <a:t>mTLS
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976D2"/>
                </a:solidFill>
                <a:latin typeface="Arial"/>
              </a:rPr>
              <a:t>mTLS
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4389120"/>
            <a:ext cx="2560320" cy="13716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Pro+ Modules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Health • Compliance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Reporting • Secrets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Containers • CVE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Cross-Platform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Operating System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Server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(Ubuntu, Debian, RHEL, Alpine, etc.)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 (10/11, Server 2019+)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 (7.4+)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NetBSD (10+)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Packaging Formats &amp; OS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OS / Distro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.deb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Ubuntu, Debian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20.04+, Bookworm+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.rpm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RHEL, Fedora, SUSE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8+, 38+, 15+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.pkg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 Ventura+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.msi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10/11, Server 2019+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.snap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Ubuntu/Snapcraft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Core 22+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.flatpak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(universal)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Flathub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.apk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Alpine Linux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3.18+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.tgz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OpenBSD, NetBSD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7.4+ / 10+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Internationalization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English  (en)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French  (fr)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German  (de)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Spanish  (es)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Italian  (it)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Portuguese  (pt)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Dutch  (nl)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Russian  (ru)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Chinese (Simplified)  (zh)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Japanese  (ja)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Korean  (ko)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Hindi  (hi)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389120"/>
            <a:ext cx="3108960" cy="502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Arabic (RTL)  (ar)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438912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Turkish  (tr)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Full UI + backend message localization  •  RTL support for Arabic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management — register, organize, tag, and monitor all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Software inventory — full package listing per host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Update detection — identify available OS and package updates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Package management — install, remove, upgrade packages remotely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Repository management — configure package sources across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Certificate monitoring — track TLS certificate expiration 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Firewall &amp; AV status — verify security posture at a glance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Role-Based Access Control — Admin, Operator, Viewer roles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User management — create, modify, deactivate user accounts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Tagging system — flexible host categorization and filtering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Source: Monitoring &amp;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CPU, RAM, disk, and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System uptime and last-seen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OS identification and version detection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Storage inventory — partitions, mount points, usage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Ubuntu Pro integration — ESM status and entitlements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detail dashboard with at-a-glance health overview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WebSocket-driven live updates — no polling, no page refresh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Licensing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114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Professional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Health Engine (AI-powered)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Compliance Engine (CIS/STIG)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Reporting Engine (PDF/HTML)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Audit Engine (tamper-evident)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Secrets Engine (OpenBAO)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Container Engine (LXD/WSL)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CVE Vulnerability Engine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Alerting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1148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Enterprise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Everything in Professional, plus: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AV Management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Firewall Orchestration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Virtualization (KVM/bhyve/VMM)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Observability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Automation &amp; Fleet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Air-Gapped Support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MFA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Arial"/>
              </a:rPr>
              <a:t>ECDSA P-521 license validation  •  Feature gating  •  Host count enforcement  •  Cython-compiled modules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Professional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proplus_core — license validation, feature gating, module loader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health_engine — AI-powered system health analysis and recommendations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compliance_engine — CIS Benchmarks and DISA STIG auditing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reporting_engine — PDF and HTML report generation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audit_engine — tamper-evident audit logging with hash chains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secrets_engine — OpenBAO-backed encrypted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container_engine — LXD and WSL container management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Enterprise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vuln_engine — CVE vulnerability scanning and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alerting_engine — Email, Webhook, Slack, and Teams notifications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Upcoming enterprise modules: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AV management — centralized antivirus policy and status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Firewall orchestration — cross-platform firewall rule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Virtualization — KVM, bhyve, VMM hypervisor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Observability — centralized log and metric aggregation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Automation &amp; Fleet — task scheduling and fleet-wide operations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Air-gapped support — offline/disconnected environment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MFA — multi-factor authentication for the management console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Ecosystem Integrations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926080" cy="3657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Secrets &amp; Key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8016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OpenBAO / Vault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Encrypted secrets storage, API keys, credential management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01368"/>
            <a:ext cx="2926080" cy="365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80136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OpenTelemetry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Distributed tracing and metrics 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6712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Grafana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Dashboard visualization and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53288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Prometheus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Metrics collection and querying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89864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Graylog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Centralized log aggregation (GELF, syslog)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74136"/>
            <a:ext cx="2926080" cy="36576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Vulnerability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374136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NIST NVD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National Vulnerability Database (CVE)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739896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Ubuntu / Debian / Red Hat / Microsoft / FreeBSD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OS-specific security advisories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15384"/>
            <a:ext cx="2926080" cy="3657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Platform &amp; Virtualization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21538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Ubuntu Pro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ESM, security patching,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58114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LXD / Incus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Container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94690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KVM / bhyve / VMM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Hypervisor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422392"/>
            <a:ext cx="2926080" cy="3657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42239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SMTP / Email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Alert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78815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Webhooks / Slack / Teams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Real-time notifications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6263640"/>
            <a:ext cx="2926080" cy="365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Firewalls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626364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D3D5C"/>
                </a:solidFill>
                <a:latin typeface="Arial"/>
              </a:rPr>
              <a:t>UFW / iptables / nftables / PF</a:t>
            </a:r>
            <a:r>
              <a:rPr sz="1000" b="0">
                <a:solidFill>
                  <a:srgbClr val="666666"/>
                </a:solidFill>
                <a:latin typeface="Arial"/>
              </a:rPr>
              <a:t>  —  Cross-platform firewall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A2332"/>
                </a:solidFill>
                <a:latin typeface="Arial"/>
              </a:rPr>
              <a:t>SysManage integrates — not replaces — best-of-breed tools in each category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Why Security Matters for Systems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Privileged access to every managed host — a compromised management platform is catastrophic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Credential store — secrets engine holds sensitive keys and passwords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Attack surface amplification — one server connects to hundreds of agents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 mandates — SOC2, HIPAA, FedRAMP require secure management tooling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Supply chain risk — management software is a high-value target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 requirements — every action must be traceable and tamper-evident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Security-First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mTLS agent communication — mutual TLS for all server-agent traffic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JWT authentication with rotation — short-lived tokens, automatic refresh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inbound agent ports — agents connect outbound only, reducing attack surface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UUID primary keys — prevents enumeration attacks on API endpoints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OpenBAO encrypted secrets — HashiCorp Vault-compatible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ECDSA P-521 license signing — cryptographically secure license validation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TLS 1.2+ enforced — no legacy protocol support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Cython-compiled Pro+ modules — source code protection for commercial features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 in the Development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Bandit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Python security linter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Semgrep Pro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Static analysis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SonarCloud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&amp;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CodeQL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Semantic code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46888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Safety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Dependency vulnerability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security scanning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TruffleHog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Secret detection in commits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56616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Black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Deterministic code formatting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PyLint 10/10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enforcement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Dependabot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Automated dependency updates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66344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Pinned GH Actions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SHA-pinned CI/CD actions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Playwright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End-to-end UI testing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Software Bill of Materials (SBOM)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What &amp; Why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 JSON format (v1.6)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Full dependency inventory for every release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Supply chain transparency &amp; auditability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Separate SBOMs for backend (Python)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and frontend (Node.js) components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Agent packages include their own SBOM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Generation &amp; Distribution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Automated via CI/CD on every build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cyclonedx-bom (Python dependencies)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@cyclonedx/cyclonedx-npm (Node.js)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Published as GitHub release artifacts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Bundled inside every installer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(.deb, .rpm, .msi, .pkg, .snap, .tgz, ...)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Compatible with: Grype  •  Trivy  •  Dependency-Track  •  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Inspect locally:  jq . backend-sbom.json  |  jq '.components | length'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Demo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976D2"/>
                </a:solidFill>
                <a:latin typeface="Arial"/>
              </a:rPr>
              <a:t>Open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47"/>
                </a:solidFill>
                <a:latin typeface="Arial"/>
              </a:rPr>
              <a:t>Pro+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41732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80744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Dashboard &amp; Host Overview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Navigate the main dashboard, view registered hosts and status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3911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002536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Host Detail Deep-Dive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Live CPU/RAM/disk/network metrics, OS info, uptime, storage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60904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624328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Software Inventory &amp; Updates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installed packages, detect available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282696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461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Package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Install and remove a package remotely from the browser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904488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867912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User Management &amp; RBAC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Create a user, assign roles (Admin/Operator/Viewer)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52628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89704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Settings &amp;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Server configuration, agent settings, preferences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14807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11496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Multi-Language Switching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Switch UI language live across supported locales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1417320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380744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Health Analysis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AI-powered system health scoring and recommendations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2039112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002536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Compliance Audit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Run CIS Benchmark / DISA STIG checks against a host</a:t>
            </a:r>
          </a:p>
        </p:txBody>
      </p:sp>
      <p:sp>
        <p:nvSpPr>
          <p:cNvPr id="26" name="Oval 25"/>
          <p:cNvSpPr/>
          <p:nvPr/>
        </p:nvSpPr>
        <p:spPr>
          <a:xfrm>
            <a:off x="5943600" y="2660904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24328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PDF Report Generation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Generate and download a formatted compliance report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3282696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461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Secrets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Store and retrieve secrets via OpenBAO integration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3904488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867912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Container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and manage LXD containers on a host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0" y="4526280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89704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CVE Vulnerability Scan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Scan host packages against the CVE database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5148072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111496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Alerting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Configure Email, Webhook, Slack, and Teams alerts</a:t>
            </a:r>
          </a:p>
        </p:txBody>
      </p:sp>
      <p:sp>
        <p:nvSpPr>
          <p:cNvPr id="36" name="Oval 35"/>
          <p:cNvSpPr/>
          <p:nvPr/>
        </p:nvSpPr>
        <p:spPr>
          <a:xfrm>
            <a:off x="5943600" y="5769864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33288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Audit Log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Browse tamper-evident audit trail with hash chain verification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2103120" cy="2103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200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7548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BDEFB"/>
                </a:solidFill>
                <a:latin typeface="Arial"/>
              </a:rPr>
              <a:t>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You Just Saw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monitoring — live CPU, RAM, disk,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Cross-platform agents — same management experience on Linux, macOS, Windows, *BSD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One-click operations — package installs, user management, settings from the browser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Pro+ intelligence layer — AI health analysis, CIS/STIG compliance, CVE scanning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Enterprise-grade security — mTLS, tamper-evident audit logs, encrypted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Internationalized UI — seamless language switching across 14 languages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Roadmap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691640" cy="18288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1554480"/>
            <a:ext cx="1691640" cy="18288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2 Features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55448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3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AV + Firewall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Apr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199" y="155448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55448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5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Automation + Fleet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May-Jun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21240" y="155448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6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7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Stab. RC1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8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Foundation v2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Jul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9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Stab. RC2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Aug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Virt + Obs + MFA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Dec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11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Air-Gapped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Jan 2027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21240" y="4023360"/>
            <a:ext cx="1691640" cy="1828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Phase 12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Enterprise GA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Feb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59436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D3D5C"/>
                </a:solidFill>
                <a:latin typeface="Arial"/>
              </a:rPr>
              <a:t>Target: v3.0.0.0 Enterprise GA — Q1 2027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Near-Term (Phases 3–5)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22860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Estimate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AV Management + Firewall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~59 days (padded)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 days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Automation + Fleet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~16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May-Jun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Mid-Term (Phases 6–9)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22860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Estimate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 days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Foundation Features v2.0.0.0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~25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RC2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 days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Aug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Long-Term (Phases 10–12)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22860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Estimate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Virtualization + Observability + MFA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~130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Dec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Air-Gapped Support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~39 days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Enterprise GA v3.0.0.0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~31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Feb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325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Cross-Platform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6 operating systems — Linux, macOS, Windows, FreeBSD, OpenBSD, NetBSD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mTLS, JWT rotation, tamper-evident auditing, encrypted secrets, zero inbound agent 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246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Open Source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11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AGPLv3 — transparent, auditable, community-driven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5196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06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Commercial Pro+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Professional &amp; Enterprise tiers for compliance, AI health, CVE scanning, and more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66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Active Roadmap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532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12-phase plan targeting v3.0.0.0 Enterprise GA in Q1 2027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sysmanage.org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github.com/bceverly/sysmanage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github.com/bceverly/sysmanage-agent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github.com/bceverly/sysmanage-docs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4864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Arial"/>
              </a:rPr>
              <a:t>Licensed under AGPLv3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