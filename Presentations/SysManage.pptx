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D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ysmanag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914400"/>
            <a:ext cx="4846320" cy="13217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27432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Cross-Platform System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8404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BDEFB"/>
                </a:solidFill>
                <a:latin typeface="Arial"/>
              </a:rPr>
              <a:t>Manage every host, every OS, from one platform.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4846320"/>
            <a:ext cx="6400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Arial"/>
              </a:rPr>
              <a:t>February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4572000"/>
            <a:ext cx="3017520" cy="36576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Oval 5"/>
          <p:cNvSpPr/>
          <p:nvPr/>
        </p:nvSpPr>
        <p:spPr>
          <a:xfrm>
            <a:off x="1097280" y="137160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3716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6420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What is SysManage &amp; architecture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417320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~10 min</a:t>
            </a:r>
          </a:p>
        </p:txBody>
      </p:sp>
      <p:sp>
        <p:nvSpPr>
          <p:cNvPr id="10" name="Oval 9"/>
          <p:cNvSpPr/>
          <p:nvPr/>
        </p:nvSpPr>
        <p:spPr>
          <a:xfrm>
            <a:off x="1097280" y="219456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19456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48716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Open source + Pro+ capabilities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2240279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~8 min</a:t>
            </a:r>
          </a:p>
        </p:txBody>
      </p:sp>
      <p:sp>
        <p:nvSpPr>
          <p:cNvPr id="14" name="Oval 13"/>
          <p:cNvSpPr/>
          <p:nvPr/>
        </p:nvSpPr>
        <p:spPr>
          <a:xfrm>
            <a:off x="1097280" y="301752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175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Security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10127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Security-first design &amp; dev process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3063239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~5 min</a:t>
            </a:r>
          </a:p>
        </p:txBody>
      </p:sp>
      <p:sp>
        <p:nvSpPr>
          <p:cNvPr id="18" name="Oval 17"/>
          <p:cNvSpPr/>
          <p:nvPr/>
        </p:nvSpPr>
        <p:spPr>
          <a:xfrm>
            <a:off x="1097280" y="384048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8404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Live Demo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13308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Hands-on walkthrough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3886200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~30 min</a:t>
            </a:r>
          </a:p>
        </p:txBody>
      </p:sp>
      <p:sp>
        <p:nvSpPr>
          <p:cNvPr id="22" name="Oval 21"/>
          <p:cNvSpPr/>
          <p:nvPr/>
        </p:nvSpPr>
        <p:spPr>
          <a:xfrm>
            <a:off x="1097280" y="466344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6634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Futures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95604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Roadmap to v3.0.0.0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0" y="4709159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~5 min</a:t>
            </a:r>
          </a:p>
        </p:txBody>
      </p:sp>
      <p:sp>
        <p:nvSpPr>
          <p:cNvPr id="26" name="Oval 25"/>
          <p:cNvSpPr/>
          <p:nvPr/>
        </p:nvSpPr>
        <p:spPr>
          <a:xfrm>
            <a:off x="1097280" y="548640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54864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Recap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577900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Key takeaways &amp; resources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0" y="5532120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~2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Heterogeneous OS estates — Linux, macOS, Windows, *BSD all in one environment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Security &amp; compliance requirements — SOC2, HIPAA, FedRAMP, CIS, DISA STIG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Agent sprawl — separate tools for monitoring, patching, compliance, secrets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Manual toil — SSH loops, ad-hoc scripts, no audit trail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No single pane of glass — context-switching between dashboards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Commercial lock-in — expensive per-host licensing with opaque code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What is SysManage?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Server + Agent architecture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Central server manages distributed agents on every host</a:t>
            </a:r>
          </a:p>
          <a:p>
            <a:pPr>
              <a:spcBef>
                <a:spcPts val="10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Real-time WebSocket communication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Live metrics, status updates, and command execution</a:t>
            </a:r>
          </a:p>
          <a:p>
            <a:pPr>
              <a:spcBef>
                <a:spcPts val="10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FastAPI backend + React frontend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Modern Python API with responsive web UI</a:t>
            </a:r>
          </a:p>
          <a:p>
            <a:pPr>
              <a:spcBef>
                <a:spcPts val="10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PostgreSQL database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Reliable, scalable data store for all host &amp; config data</a:t>
            </a:r>
          </a:p>
          <a:p>
            <a:pPr>
              <a:spcBef>
                <a:spcPts val="10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AGPLv3 open source core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Transparent, auditable, community-driven</a:t>
            </a:r>
          </a:p>
          <a:p>
            <a:pPr>
              <a:spcBef>
                <a:spcPts val="10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Pro+ commercial modules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Enterprise features with Cython-compiled add-ons</a:t>
            </a:r>
          </a:p>
        </p:txBody>
      </p:sp>
      <p:pic>
        <p:nvPicPr>
          <p:cNvPr id="7" name="Picture 6" descr="sysmanage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82880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0" y="1645920"/>
            <a:ext cx="3931920" cy="256032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SysManage Server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FastAPI Backend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React Frontend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WebSocket 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0" y="4754880"/>
            <a:ext cx="3931920" cy="7315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PostgreSQL Database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2560320" cy="164592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SysManage Agent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Local DB (SQLite)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System Metrics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0" y="2011680"/>
            <a:ext cx="2560320" cy="164592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SysManage Agent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Local DB (SQLite)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System 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2860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1976D2"/>
                </a:solidFill>
                <a:latin typeface="Arial"/>
              </a:rPr>
              <a:t>mTLS
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2860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1976D2"/>
                </a:solidFill>
                <a:latin typeface="Arial"/>
              </a:rPr>
              <a:t>mTLS
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0" y="4389120"/>
            <a:ext cx="2560320" cy="1371600"/>
          </a:xfrm>
          <a:prstGeom prst="roundRect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Pro+ Modules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Health • Compliance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Reporting • Secrets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Containers • CVE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Cross-Platform Support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058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2286000"/>
                <a:gridCol w="22860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Operating System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Server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Agent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Linux (Ubuntu, Debian, RHEL, Alpine, etc.)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macOS (13+)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Windows (10/11, Server 2019+)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FreeBSD (13+)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OpenBSD (7.4+)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NetBSD (10+)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Packaging Formats &amp; OS Versions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9144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Format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OS / Distro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Versions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.deb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Ubuntu, Debian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20.04+, Bookworm+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.rpm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RHEL, Fedora, SUSE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8+, 38+, 15+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.pkg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macOS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13 Ventura+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.msi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Windows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10/11, Server 2019+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.snap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Ubuntu/Snapcraft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Core 22+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.flatpak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Linux (universal)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Flathub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.apk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Alpine Linux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3.18+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.tgz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FreeBSD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13+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OpenBSD, NetBSD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7.4+ / 10+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Internationalization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46304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English  (en)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46304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French  (fr)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46304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German  (de)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19456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Spanish  (es)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19456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Italian  (it)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19456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Portuguese  (pt)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92608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Dutch  (nl)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92608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Russian  (ru)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92608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Chinese (Simplified)  (zh)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65760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Japanese  (ja)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365760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Korean  (ko)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365760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Hindi  (hi)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389120"/>
            <a:ext cx="3108960" cy="50292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Arabic (RTL)  (ar)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438912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Turkish  (tr)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30352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Full UI + backend message localization  •  RTL support for Arabic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Open Source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Host management — register, organize, tag, and monitor all hosts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Software inventory — full package listing per host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Update detection — identify available OS and package updates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Package management — install, remove, upgrade packages remotely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Repository management — configure package sources across hosts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Certificate monitoring — track TLS certificate expiration dates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Firewall &amp; AV status — verify security posture at a glance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Role-Based Access Control — Admin, Operator, Viewer roles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User management — create, modify, deactivate user accounts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Tagging system — flexible host categorization and filtering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Open Source: Monitoring &amp; Management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Real-time CPU, RAM, disk, and network metrics via WebSocket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System uptime and last-seen tracking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OS identification and version detection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Storage inventory — partitions, mount points, usage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Ubuntu Pro integration — ESM status and entitlements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Host detail dashboard with at-a-glance health overview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WebSocket-driven live updates — no polling, no page refresh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Pro+ Licensing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029200" cy="41148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Professional Tier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Health Engine (AI-powered)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Compliance Engine (CIS/STIG)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Reporting Engine (PDF/HTML)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Audit Engine (tamper-evident)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Secrets Engine (OpenBAO)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Container Engine (LXD/WSL)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CVE Vulnerability Engine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Alerting 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029200" cy="411480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Enterprise Tier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Everything in Professional, plus: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AV Management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Firewall Orchestration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Virtualization (KVM/bhyve/VMM)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Observability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Automation &amp; Fleet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Air-Gapped Support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MFA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7607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666666"/>
                </a:solidFill>
                <a:latin typeface="Arial"/>
              </a:rPr>
              <a:t>ECDSA P-521 license validation  •  Feature gating  •  Host count enforcement  •  Cython-compiled modules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Pro+ Professional Tier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proplus_core — license validation, feature gating, module loader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health_engine — AI-powered system health analysis and recommendations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compliance_engine — CIS Benchmarks and DISA STIG auditing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reporting_engine — PDF and HTML report generation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audit_engine — tamper-evident audit logging with hash chains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secrets_engine — OpenBAO-backed encrypted secrets management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container_engine — LXD and WSL container management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Pro+ Enterprise Tier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vuln_engine — CVE vulnerability scanning and tracking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alerting_engine — Email, Webhook, Slack, and Teams notifications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Upcoming enterprise modules: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AV management — centralized antivirus policy and status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Firewall orchestration — cross-platform firewall rule management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Virtualization — KVM, bhyve, VMM hypervisor management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Observability — centralized log and metric aggregation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Automation &amp; Fleet — task scheduling and fleet-wide operations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Air-gapped support — offline/disconnected environment management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MFA — multi-factor authentication for the management console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Why Security Matters for Systems Management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Privileged access to every managed host — a compromised management platform is catastrophic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Credential store — secrets engine holds sensitive keys and passwords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Attack surface amplification — one server connects to hundreds of agents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Compliance mandates — SOC2, HIPAA, FedRAMP require secure management tooling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Supply chain risk — management software is a high-value target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Audit requirements — every action must be traceable and tamper-evident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Security-First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mTLS agent communication — mutual TLS for all server-agent traffic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JWT authentication with rotation — short-lived tokens, automatic refresh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No inbound agent ports — agents connect outbound only, reducing attack surface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UUID primary keys — prevents enumeration attacks on API endpoints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OpenBAO encrypted secrets — HashiCorp Vault-compatible secrets management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ECDSA P-521 license signing — cryptographically secure license validation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TLS 1.2+ enforced — no legacy protocol support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Cython-compiled Pro+ modules — source code protection for commercial features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Security in the Development Process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Bandit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Python security linter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37160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Semgrep Pro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Static analysis rules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37160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SonarCloud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Code quality &amp; security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6888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CodeQL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Semantic code analysis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46888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Safety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Dependency vulnerability check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46888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Snyk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Open source security scanning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6616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TruffleHog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Secret detection in commits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356616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Black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Deterministic code formatting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56616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PyLint 10/10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Code quality enforcement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66344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Dependabot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Automated dependency updates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466344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Pinned GH Actions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SHA-pinned CI/CD actions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66344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Playwright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End-to-end UI testing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Demo 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1A2332"/>
                </a:solidFill>
                <a:latin typeface="Arial"/>
              </a:rPr>
              <a:t>•  Dashboard &amp; host overview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1A2332"/>
                </a:solidFill>
                <a:latin typeface="Arial"/>
              </a:rPr>
              <a:t>•  Host detail: metrics, software inventory, update detection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1A2332"/>
                </a:solidFill>
                <a:latin typeface="Arial"/>
              </a:rPr>
              <a:t>•  Package installation / removal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1A2332"/>
                </a:solidFill>
                <a:latin typeface="Arial"/>
              </a:rPr>
              <a:t>•  User management &amp; RBAC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1A2332"/>
                </a:solidFill>
                <a:latin typeface="Arial"/>
              </a:rPr>
              <a:t>•  Settings &amp; configuration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1A2332"/>
                </a:solidFill>
                <a:latin typeface="Arial"/>
              </a:rPr>
              <a:t>•  Multi-language switching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2E7D47"/>
                </a:solidFill>
                <a:latin typeface="Arial"/>
              </a:rPr>
              <a:t>•  Pro+: Health analysis &amp; recommendations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2E7D47"/>
                </a:solidFill>
                <a:latin typeface="Arial"/>
              </a:rPr>
              <a:t>•  Pro+: Compliance audit (CIS/DISA STIG)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2E7D47"/>
                </a:solidFill>
                <a:latin typeface="Arial"/>
              </a:rPr>
              <a:t>•  Pro+: PDF report generation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2E7D47"/>
                </a:solidFill>
                <a:latin typeface="Arial"/>
              </a:rPr>
              <a:t>•  Pro+: Secrets management (OpenBAO)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2E7D47"/>
                </a:solidFill>
                <a:latin typeface="Arial"/>
              </a:rPr>
              <a:t>•  Pro+: Container management (LXD)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2E7D47"/>
                </a:solidFill>
                <a:latin typeface="Arial"/>
              </a:rPr>
              <a:t>•  Pro+: CVE vulnerability scanning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2E7D47"/>
                </a:solidFill>
                <a:latin typeface="Arial"/>
              </a:rPr>
              <a:t>•  Pro+: Alerting configuration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2E7D47"/>
                </a:solidFill>
                <a:latin typeface="Arial"/>
              </a:rPr>
              <a:t>•  Pro+: Audit log with tamper-evident hashing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D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ysmanage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097280"/>
            <a:ext cx="2103120" cy="21031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32004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4754880"/>
            <a:ext cx="6400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BBDEFB"/>
                </a:solidFill>
                <a:latin typeface="Arial"/>
              </a:rPr>
              <a:t>30 Minutes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4572000"/>
            <a:ext cx="3017520" cy="36576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What You Just Saw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Real-time monitoring — live CPU, RAM, disk, network metrics via WebSocket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Cross-platform agents — same management experience on Linux, macOS, Windows, *BSD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One-click operations — package installs, user management, settings from the browser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Pro+ intelligence layer — AI health analysis, CIS/STIG compliance, CVE scanning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Enterprise-grade security — mTLS, tamper-evident audit logs, encrypted secrets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Internationalized UI — seamless language switching across 14 languages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Roadmap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691640" cy="182880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Phase 1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Stabilization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✓ Done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23160" y="1554480"/>
            <a:ext cx="1691640" cy="182880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Phase 2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Phase 2 Features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✓ 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554480"/>
            <a:ext cx="1691640" cy="18288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Phase 3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AV + Firewall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Apr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199" y="1554480"/>
            <a:ext cx="1691640" cy="18288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Phase 4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Stabilization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May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9" y="1554480"/>
            <a:ext cx="1691640" cy="18288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Phase 5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Automation + Fleet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May-Jun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921240" y="1554480"/>
            <a:ext cx="1691640" cy="18288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Phase 6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Stabilization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Jun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23360"/>
            <a:ext cx="1691640" cy="18288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Phase 7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Stab. RC1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Jun 2026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23160" y="4023360"/>
            <a:ext cx="1691640" cy="18288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Phase 8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Foundation v2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Jul 2026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4023360"/>
            <a:ext cx="1691640" cy="18288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Phase 9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Stab. RC2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Aug 2026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199" y="4023360"/>
            <a:ext cx="1691640" cy="18288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Phase 10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Virt + Obs + MFA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Dec 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4023360"/>
            <a:ext cx="1691640" cy="18288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Phase 11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Air-Gapped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Jan 2027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21240" y="4023360"/>
            <a:ext cx="1691640" cy="18288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Phase 12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Enterprise GA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Feb 2027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594360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0D3D5C"/>
                </a:solidFill>
                <a:latin typeface="Arial"/>
              </a:rPr>
              <a:t>Target: v3.0.0.0 Enterprise GA — Q1 2027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Futures: Near-Term (Phases 3–5)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058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572000"/>
                <a:gridCol w="2286000"/>
                <a:gridCol w="18288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Estimate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AV Management + Firewall Orchestration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~59 days (padded)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Apr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Stabilization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~13 days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May 2026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Automation + Fleet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~16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May-Jun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Futures: Mid-Term (Phases 6–9)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058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572000"/>
                <a:gridCol w="2286000"/>
                <a:gridCol w="18288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Estimate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Stabilization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~13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Jun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Stabilization RC1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~13 days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Jun 2026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Foundation Features v2.0.0.0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~25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Jul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Stabilization RC2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~13 days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Aug 2026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Futures: Long-Term (Phases 10–12)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058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572000"/>
                <a:gridCol w="2286000"/>
                <a:gridCol w="18288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Estimate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Virtualization + Observability + MFA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~130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Dec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Air-Gapped Support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~39 days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Jan 2027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Enterprise GA v3.0.0.0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~31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Feb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Key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3716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3258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Cross-Platform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916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  <a:latin typeface="Arial"/>
              </a:rPr>
              <a:t>6 operating systems — Linux, macOS, Windows, FreeBSD, OpenBSD, NetBSD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331720"/>
            <a:ext cx="13716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2860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Security-First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6517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  <a:latin typeface="Arial"/>
              </a:rPr>
              <a:t>mTLS, JWT rotation, tamper-evident auditing, encrypted secrets, zero inbound agent ports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291840"/>
            <a:ext cx="13716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2461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Open Source 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6118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  <a:latin typeface="Arial"/>
              </a:rPr>
              <a:t>AGPLv3 — transparent, auditable, community-driven foundation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51960"/>
            <a:ext cx="13716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42062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Commercial Pro+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5720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  <a:latin typeface="Arial"/>
              </a:rPr>
              <a:t>Professional &amp; Enterprise tiers for compliance, AI health, CVE scanning, and more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212080"/>
            <a:ext cx="13716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166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Active Roadmap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5321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  <a:latin typeface="Arial"/>
              </a:rPr>
              <a:t>12-phase plan targeting v3.0.0.0 Enterprise GA in Q1 2027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D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ysmanag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914400"/>
            <a:ext cx="4846320" cy="13217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2743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93192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600"/>
              </a:spcBef>
            </a:pPr>
            <a:r>
              <a:rPr sz="1800" b="0">
                <a:solidFill>
                  <a:srgbClr val="BBDEFB"/>
                </a:solidFill>
                <a:latin typeface="Arial"/>
              </a:rPr>
              <a:t>sysmanage.org</a:t>
            </a:r>
          </a:p>
          <a:p>
            <a:pPr algn="ctr">
              <a:spcBef>
                <a:spcPts val="600"/>
              </a:spcBef>
            </a:pPr>
            <a:r>
              <a:rPr sz="1800" b="0">
                <a:solidFill>
                  <a:srgbClr val="BBDEFB"/>
                </a:solidFill>
                <a:latin typeface="Arial"/>
              </a:rPr>
              <a:t>github.com/bceverly/sysmanage</a:t>
            </a:r>
          </a:p>
          <a:p>
            <a:pPr algn="ctr">
              <a:spcBef>
                <a:spcPts val="600"/>
              </a:spcBef>
            </a:pPr>
            <a:r>
              <a:rPr sz="1800" b="0">
                <a:solidFill>
                  <a:srgbClr val="BBDEFB"/>
                </a:solidFill>
                <a:latin typeface="Arial"/>
              </a:rPr>
              <a:t>github.com/bceverly/sysmanage-agent</a:t>
            </a:r>
          </a:p>
          <a:p>
            <a:pPr algn="ctr">
              <a:spcBef>
                <a:spcPts val="600"/>
              </a:spcBef>
            </a:pPr>
            <a:r>
              <a:rPr sz="1800" b="0">
                <a:solidFill>
                  <a:srgbClr val="BBDEFB"/>
                </a:solidFill>
                <a:latin typeface="Arial"/>
              </a:rPr>
              <a:t>github.com/bceverly/sysmanage-docs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548640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666666"/>
                </a:solidFill>
                <a:latin typeface="Arial"/>
              </a:rPr>
              <a:t>Licensed under AGPLv3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