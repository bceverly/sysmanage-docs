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D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smanag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4846320" cy="1321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Cross-Platform System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BDEFB"/>
                </a:solidFill>
                <a:latin typeface="Arial"/>
              </a:rPr>
              <a:t>Manage every host, every OS, from one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8463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</a:rPr>
              <a:t>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572000"/>
            <a:ext cx="3017520" cy="3657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642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What is SysManage &amp;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17320"/>
            <a:ext cx="118872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3D5C"/>
                </a:solidFill>
                <a:latin typeface="Arial"/>
              </a:rPr>
              <a:t>~10 min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19456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94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Open source + Pro+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240279"/>
            <a:ext cx="118872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3D5C"/>
                </a:solidFill>
                <a:latin typeface="Arial"/>
              </a:rPr>
              <a:t>~8 min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1012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Security-first design &amp; dev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063239"/>
            <a:ext cx="118872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3D5C"/>
                </a:solidFill>
                <a:latin typeface="Arial"/>
              </a:rPr>
              <a:t>~5 min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84048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40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Live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3308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Hands-on walkthrough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886200"/>
            <a:ext cx="118872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3D5C"/>
                </a:solidFill>
                <a:latin typeface="Arial"/>
              </a:rPr>
              <a:t>~30 min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66344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663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Futures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9560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Roadmap to v3.0.0.0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709159"/>
            <a:ext cx="118872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3D5C"/>
                </a:solidFill>
                <a:latin typeface="Arial"/>
              </a:rPr>
              <a:t>~5 min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486400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Recap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7790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Key takeaways &amp; 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532120"/>
            <a:ext cx="118872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D3D5C"/>
                </a:solidFill>
                <a:latin typeface="Arial"/>
              </a:rPr>
              <a:t>~2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Heterogeneous OS estates — Linux, macOS, Windows, *BSD all in one environment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Security &amp; compliance requirements — SOC2, HIPAA, FedRAMP, CIS, DISA STIG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Agent sprawl — separate tools for monitoring, patching, compliance, secrets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Manual toil — SSH loops, ad-hoc scripts, no audit trail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No single pane of glass — context-switching between dashboards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Commercial lock-in — expensive per-host licensing with opaque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What is SysManage?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0D3D5C"/>
                </a:solidFill>
                <a:latin typeface="Arial"/>
              </a:rPr>
              <a:t>•  Server + Agent architecture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66666"/>
                </a:solidFill>
                <a:latin typeface="Arial"/>
              </a:rPr>
              <a:t>     Central server manages distributed agents on every host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D3D5C"/>
                </a:solidFill>
                <a:latin typeface="Arial"/>
              </a:rPr>
              <a:t>•  Real-time WebSocket communication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66666"/>
                </a:solidFill>
                <a:latin typeface="Arial"/>
              </a:rPr>
              <a:t>     Live metrics, status updates, and command execution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D3D5C"/>
                </a:solidFill>
                <a:latin typeface="Arial"/>
              </a:rPr>
              <a:t>•  FastAPI backend + React frontend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66666"/>
                </a:solidFill>
                <a:latin typeface="Arial"/>
              </a:rPr>
              <a:t>     Modern Python API with responsive web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D3D5C"/>
                </a:solidFill>
                <a:latin typeface="Arial"/>
              </a:rPr>
              <a:t>•  PostgreSQL database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66666"/>
                </a:solidFill>
                <a:latin typeface="Arial"/>
              </a:rPr>
              <a:t>     Reliable, scalable data store for all host &amp; config data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D3D5C"/>
                </a:solidFill>
                <a:latin typeface="Arial"/>
              </a:rPr>
              <a:t>•  AGPLv3 open source core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66666"/>
                </a:solidFill>
                <a:latin typeface="Arial"/>
              </a:rPr>
              <a:t>     Transparent, auditable, community-driven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D3D5C"/>
                </a:solidFill>
                <a:latin typeface="Arial"/>
              </a:rPr>
              <a:t>•  Pro+ commercial modules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66666"/>
                </a:solidFill>
                <a:latin typeface="Arial"/>
              </a:rPr>
              <a:t>     Enterprise features with Cython-compiled add-ons</a:t>
            </a:r>
          </a:p>
        </p:txBody>
      </p:sp>
      <p:pic>
        <p:nvPicPr>
          <p:cNvPr id="7" name="Picture 6" descr="sysmanage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Who is SysManage? — Bryan Everly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pic>
        <p:nvPicPr>
          <p:cNvPr id="6" name="Picture 5" descr="bryan-ever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143000"/>
            <a:ext cx="1371600" cy="137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34440"/>
            <a:ext cx="2743200" cy="4572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Software Artistry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Early employee → Dir. of Worldwide Product Dev  •  IPO 1995  •  Sold to IBM/Tivoli 1998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IBM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Led global engineering team post-acquisition (3 years)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SaaS Founder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Founded &amp; sold a SaaS company securing sensitive HR data (~8 years)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ExactTarget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Engineering leader (1/3 of technology team)  •  Acquired by Salesforce (now Salesforce Marketing Cloud)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Aprimo / Teradata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VP of Worldwide Engineering  •  $525M acquisition by Teradata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NextGear Capital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CTO  •  Built dev org from scratch  •  Grew loan volume $1.6B → $3.2B  •  CTO of the Year (IBJ/TechPoint)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Cox Automotive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CTO &amp; CISO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Cummins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Chief Enterprise Architect &amp; Exec. Dir. Software Engineering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D3D5C"/>
                </a:solidFill>
                <a:latin typeface="Arial"/>
              </a:rPr>
              <a:t>Canonical  </a:t>
            </a:r>
            <a:r>
              <a:rPr sz="1300" b="0">
                <a:solidFill>
                  <a:srgbClr val="666666"/>
                </a:solidFill>
                <a:latin typeface="Arial"/>
              </a:rPr>
              <a:t>—  VP of Software Engineering  •  Ubuntu, IoT, real-time Linux, HPC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Arial"/>
              </a:rPr>
              <a:t>M.S. Cybersecurity, UC Berkeley  •  B.S. Computer Science, Indiana State  •  OpenBSD Ports Maintainer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Who is SysManage? — Fedor Dikarev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pic>
        <p:nvPicPr>
          <p:cNvPr id="6" name="Picture 5" descr="fedor-dikare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143000"/>
            <a:ext cx="1371600" cy="137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34440"/>
            <a:ext cx="4114800" cy="4572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Lead SRE / CI/CD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D3D5C"/>
                </a:solidFill>
                <a:latin typeface="Arial"/>
              </a:rPr>
              <a:t>•  NGINX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Arial"/>
              </a:rPr>
              <a:t>     Infrastructure and operations engineering at NGINX, the world's most widely deployed web server and reverse proxy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D3D5C"/>
                </a:solidFill>
                <a:latin typeface="Arial"/>
              </a:rPr>
              <a:t>•  Databricks (via Neon acquisition)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Arial"/>
              </a:rPr>
              <a:t>     Infrastructure engineer at Databricks following the ~$1B acquisition of Neon, the serverless Postgres company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D3D5C"/>
                </a:solidFill>
                <a:latin typeface="Arial"/>
              </a:rPr>
              <a:t>•  Neon — Serverless Postgres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Arial"/>
              </a:rPr>
              <a:t>     Member of Technical Staff  •  Led CI/CD infrastructure migration and cost optimization  •  Reduced cloud CI costs by 50%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D3D5C"/>
                </a:solidFill>
                <a:latin typeface="Arial"/>
              </a:rPr>
              <a:t>•  Infrastructure &amp; DevOps Expertise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Arial"/>
              </a:rPr>
              <a:t>     Deep experience with AWS, Docker, Kubernetes, Prometheus monitoring, and high-availability architectures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D3D5C"/>
                </a:solidFill>
                <a:latin typeface="Arial"/>
              </a:rPr>
              <a:t>•  CI/CD &amp; Automation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Arial"/>
              </a:rPr>
              <a:t>     Designed and operated large-scale CI pipelines  •  GitHub Actions, ephemeral runners, caching optimization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0D3D5C"/>
                </a:solidFill>
                <a:latin typeface="Arial"/>
              </a:rPr>
              <a:t>•  Based in Germany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Arial"/>
              </a:rPr>
              <a:t>     European engineering perspective and timezone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Growth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Venture Capital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In active discussions with a European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venture capital fund focused on open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source and infrastructure 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Advisory Network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Engaging potential advisors from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proven open source → commercial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success stories including NGINX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and WordPress ecosystems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Open Source → Commercial Playbook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AGPLv3 core builds community trust &amp; adoption  →  Pro+ tiers monetize enterprise needs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Following the proven model: open core + commercial extensions + enterprise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182880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SysManage Agent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Local DB (SQLite)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System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194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6D2"/>
                </a:solidFill>
                <a:latin typeface="Arial"/>
              </a:rPr>
              <a:t>mTLS</a:t>
            </a:r>
          </a:p>
          <a:p>
            <a:pPr algn="ctr"/>
            <a:r>
              <a:rPr sz="1600" b="1">
                <a:solidFill>
                  <a:srgbClr val="1976D2"/>
                </a:solidFill>
                <a:latin typeface="Arial"/>
              </a:rPr>
              <a:t>←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3931920" cy="274320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SysManage Server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FastAPI Backend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React Frontend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WebSocket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572000"/>
            <a:ext cx="3931920" cy="7315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PostgreSQL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371600"/>
            <a:ext cx="2103120" cy="2743200"/>
          </a:xfrm>
          <a:prstGeom prst="roundRect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Pro+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Modules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Health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Compliance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Reporting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Secrets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CVE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4206240" cy="109728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Message Queue Architecture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All agent ↔ server communication is queued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to the database. Background threads process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messages — no data loss on crash or restart.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Cross-Platform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Linux (Ubuntu, Debian, RHEL, Alpine,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macOS (13+)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Windows (10/11, Server 2019+)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FreeBSD (13+)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OpenBSD (7.4+)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NetBSD (10+)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Packaging Formats &amp; OS Versions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OS / Distro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Versions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.deb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Ubuntu, Debian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20.04+, Bookworm+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.rpm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RHEL, Fedora, SUSE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8+, 38+, 15+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.pkg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macOS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13 Ventura+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.msi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10/11, Server 2019+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.snap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Ubuntu/Snapcraft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Core 22+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.flatpak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Linux (universal)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Flathub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.apk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Alpine Linux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3.18+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.tgz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FreeBSD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13+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OpenBSD, NetBSD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7.4+ / 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Internationalization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English  (en)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French  (fr)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German  (de)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Spanish  (es)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9456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Italian  (it)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9456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Portuguese  (pt)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Dutch  (nl)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92608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Russian  (ru)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92608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Chinese (Simplified)  (zh)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Japanese  (ja)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65760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Korean  (ko)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65760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Hindi  (hi)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3108960" cy="5029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Arabic (RTL)  (ar)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389120"/>
            <a:ext cx="310896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Turkish  (tr)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Arial"/>
              </a:rPr>
              <a:t>Full UI + backend message localization  •  RTL support for Arabic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Open Source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Host management — register, organize, tag, and monitor all hosts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Software inventory — full package listing per host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Update detection — identify available OS and package updates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Package management — install, remove, upgrade packages remotely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Repository management — configure package sources across hosts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Certificate monitoring — track TLS certificate expiration dates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Firewall &amp; AV status — verify security posture at a glance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Role-Based Access Control — Admin, Operator, Viewer roles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User management — create, modify, deactivate user accounts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Tagging system — flexible host categorization and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Open Source: Monitoring &amp;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Real-time CPU, RAM, disk, and network metrics via WebSocket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System uptime and last-seen tracking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OS identification and version detection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Storage inventory — partitions, mount points, usage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Ubuntu Pro integration — ESM status and entitlements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Host detail dashboard with at-a-glance health overview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WebSocket-driven live updates — no polling, no page refresh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Pro+ Licensing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Professional Tier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Health Engine (AI-powered)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Compliance Engine (CIS/STIG)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Reporting Engine (PDF/HTML)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Audit Engine (tamper-evident)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Secrets Engine (OpenBAO)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Container Engine (LXD/WSL)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CVE Vulnerability Engine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Alerting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Enterprise Tier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Everything in Professional, plus: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AV Management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Firewall Orchestration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Virtualization (KVM/bhyve/VMM)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Observability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Automation &amp; Fleet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Air-Gapped Support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MFA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Arial"/>
              </a:rPr>
              <a:t>ECDSA P-521 license validation  •  Feature gating  •  Host count enforcement  •  Cython-compiled modules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Pro+ Professional 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proplus_core — license validation, feature gating, module loader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health_engine — AI-powered system health analysis and recommendations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compliance_engine — CIS Benchmarks and DISA STIG auditing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reporting_engine — PDF and HTML report generation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audit_engine — tamper-evident audit logging with hash chains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secrets_engine — OpenBAO-backed encrypted secrets management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container_engine — LXD and WSL container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Pro+ Enterprise 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vuln_engine — CVE vulnerability scanning and tracking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alerting_engine — Email, Webhook, Slack, and Teams notifications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Upcoming enterprise modules: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AV management — centralized antivirus policy and status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Firewall orchestration — cross-platform firewall rule management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Virtualization — KVM, bhyve, VMM hypervisor management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Observability — centralized log and metric aggregation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Automation &amp; Fleet — task scheduling and fleet-wide operations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Air-gapped support — offline/disconnected environment management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Arial"/>
              </a:rPr>
              <a:t>    –  MFA — multi-factor authentication for the management console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Ecosystem Integrations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377440" cy="292608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Secrets &amp; Key Mgmt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OpenBAO / Vault</a:t>
            </a:r>
            <a:r>
              <a:rPr sz="800" b="0">
                <a:solidFill>
                  <a:srgbClr val="666666"/>
                </a:solidFill>
                <a:latin typeface="Arial"/>
              </a:rPr>
              <a:t> — Encrypted secrets, API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36776"/>
            <a:ext cx="2377440" cy="29260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36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OpenTelemetry</a:t>
            </a:r>
            <a:r>
              <a:rPr sz="800" b="0">
                <a:solidFill>
                  <a:srgbClr val="666666"/>
                </a:solidFill>
                <a:latin typeface="Arial"/>
              </a:rPr>
              <a:t> — Distributed tracing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29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Grafana</a:t>
            </a:r>
            <a:r>
              <a:rPr sz="800" b="0">
                <a:solidFill>
                  <a:srgbClr val="666666"/>
                </a:solidFill>
                <a:latin typeface="Arial"/>
              </a:rPr>
              <a:t> — Dashboard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Prometheus</a:t>
            </a:r>
            <a:r>
              <a:rPr sz="800" b="0">
                <a:solidFill>
                  <a:srgbClr val="666666"/>
                </a:solidFill>
                <a:latin typeface="Arial"/>
              </a:rPr>
              <a:t> — Metrics collection &amp; querying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Graylog</a:t>
            </a:r>
            <a:r>
              <a:rPr sz="800" b="0">
                <a:solidFill>
                  <a:srgbClr val="666666"/>
                </a:solidFill>
                <a:latin typeface="Arial"/>
              </a:rPr>
              <a:t> — Log aggregation (GELF, syslog)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2377440" cy="292608"/>
          </a:xfrm>
          <a:prstGeom prst="roundRect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Vulnerability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NIST NVD</a:t>
            </a:r>
            <a:r>
              <a:rPr sz="800" b="0">
                <a:solidFill>
                  <a:srgbClr val="666666"/>
                </a:solidFill>
                <a:latin typeface="Arial"/>
              </a:rPr>
              <a:t> — National Vulnerability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172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Ubuntu / Debian / RHEL / MSRC / FreeBSD</a:t>
            </a:r>
            <a:r>
              <a:rPr sz="800" b="0">
                <a:solidFill>
                  <a:srgbClr val="666666"/>
                </a:solidFill>
                <a:latin typeface="Arial"/>
              </a:rPr>
              <a:t> — OS-specific advisories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234440"/>
            <a:ext cx="2377440" cy="292608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Platform &amp; Virtualization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Ubuntu Pro</a:t>
            </a:r>
            <a:r>
              <a:rPr sz="800" b="0">
                <a:solidFill>
                  <a:srgbClr val="666666"/>
                </a:solidFill>
                <a:latin typeface="Arial"/>
              </a:rPr>
              <a:t> — ESM, patching,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LXD / Incus</a:t>
            </a:r>
            <a:r>
              <a:rPr sz="800" b="0">
                <a:solidFill>
                  <a:srgbClr val="666666"/>
                </a:solidFill>
                <a:latin typeface="Arial"/>
              </a:rPr>
              <a:t> — Container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19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KVM / bhyve / VMM</a:t>
            </a:r>
            <a:r>
              <a:rPr sz="800" b="0">
                <a:solidFill>
                  <a:srgbClr val="666666"/>
                </a:solidFill>
                <a:latin typeface="Arial"/>
              </a:rPr>
              <a:t> — Hypervisor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185416"/>
            <a:ext cx="2377440" cy="292608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1854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SMTP / Email</a:t>
            </a:r>
            <a:r>
              <a:rPr sz="800" b="0">
                <a:solidFill>
                  <a:srgbClr val="666666"/>
                </a:solidFill>
                <a:latin typeface="Arial"/>
              </a:rPr>
              <a:t> — Alert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4780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Webhooks / Slack / Teams</a:t>
            </a:r>
            <a:r>
              <a:rPr sz="800" b="0">
                <a:solidFill>
                  <a:srgbClr val="666666"/>
                </a:solidFill>
                <a:latin typeface="Arial"/>
              </a:rPr>
              <a:t> — Real-time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843784"/>
            <a:ext cx="2377440" cy="29260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Firewalls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843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D3D5C"/>
                </a:solidFill>
                <a:latin typeface="Arial"/>
              </a:rPr>
              <a:t>UFW / iptables / nftables / PF</a:t>
            </a:r>
            <a:r>
              <a:rPr sz="800" b="0">
                <a:solidFill>
                  <a:srgbClr val="666666"/>
                </a:solidFill>
                <a:latin typeface="Arial"/>
              </a:rPr>
              <a:t> — Cross-platform firewall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2332"/>
                </a:solidFill>
                <a:latin typeface="Arial"/>
              </a:rPr>
              <a:t>SysManage integrates — not replaces — best-of-breed tools in each category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Why Security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Privileged access to every managed host — a compromised management platform is catastrophic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Credential store — secrets engine holds sensitive keys and passwords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Attack surface amplification — one server connects to hundreds of agents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Compliance mandates — SOC2, HIPAA, FedRAMP require secure management tooling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Supply chain risk — management software is a high-value target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Audit requirements — every action must be traceable and tamper-evident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Scalability testing in CI/CD — load testing in the pipeline to reduce DDoS attack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Security-First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mTLS agent communication — mutual TLS for all server-agent traffic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JWT authentication with rotation — short-lived tokens, automatic refresh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No inbound agent ports — agents connect outbound only, reducing attack surface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UUID primary keys — prevents enumeration attacks on API endpoints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OpenBAO encrypted secrets — HashiCorp Vault-compatible secrets management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ECDSA P-521 license signing — cryptographically secure license validation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TLS 1.2+ enforced — no legacy protocol support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Cython-compiled Pro+ modules — source code protection for commercial features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Security in the Development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Bandit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Python security linter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0040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Semgrep Pro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Static analysis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004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SonarCloud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Code quality &amp;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20040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CodeQL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Semantic code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2004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Safety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Dependency vulnerability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468880"/>
            <a:ext cx="320040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Snyk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Open source security scanning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2004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TruffleHog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Secret detection in commits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66160"/>
            <a:ext cx="320040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Black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Deterministic code formatting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566160"/>
            <a:ext cx="32004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PyLint 10/10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Code quality enforcement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320040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Dependabot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Automated dependency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663440"/>
            <a:ext cx="3200400" cy="8229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Pinned GH Actions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SHA-pinned CI/CD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663440"/>
            <a:ext cx="320040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Playwright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End-to-end UI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Software Bill of Materials (SBOM)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What &amp; Why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CycloneDX JSON format (v1.6)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Full dependency inventory for every release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Supply chain transparency &amp; auditability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Separate SBOMs for backend (Python)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    and frontend (Node.js) components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Agent packages include their own SBOM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Generation &amp; Distribution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Automated via CI/CD on every build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cyclonedx-bom (Python dependencies)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@cyclonedx/cyclonedx-npm (Node.js)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Published as GitHub release artifacts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Bundled inside every installer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    (.deb, .rpm, .msi, .pkg, .snap, .tgz, 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Compatible with: Grype  •  Trivy  •  Dependency-Track  •  Snyk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Inspect locally:  jq . backend-sbom.json  |  jq '.components | length'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Demo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76D2"/>
                </a:solidFill>
                <a:latin typeface="Arial"/>
              </a:rPr>
              <a:t>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43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47"/>
                </a:solidFill>
                <a:latin typeface="Arial"/>
              </a:rPr>
              <a:t>Pro+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417320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0744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Dashboard &amp; Host Overview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Navigate the main dashboard, view registered hosts and status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39112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02536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Host Detail Deep-Dive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Live CPU/RAM/disk/network metrics, OS info, uptime, storage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60904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24328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Software Inventory &amp; Updates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View installed packages, detect available updates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82696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461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Package Management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Install and remove a package remotely from the browser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04488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6791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User Management &amp; RBAC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Create a user, assign roles (Admin/Operator/Viewer)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89704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Settings &amp; Configuration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Server configuration, agent settings, preferences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148072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111496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Multi-Language Switching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Switch UI language live across supported locales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1417320"/>
            <a:ext cx="347472" cy="347472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380744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Health Analysis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AI-powered system health scoring and recommendations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2039112"/>
            <a:ext cx="347472" cy="347472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002536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Compliance Audit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Run CIS Benchmark / DISA STIG checks against a host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2660904"/>
            <a:ext cx="411480" cy="411480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24328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PDF Report Generation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Generate and download a formatted compliance report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3282696"/>
            <a:ext cx="411480" cy="411480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461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Secrets Management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Store and retrieve secrets via OpenBAO integration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3904488"/>
            <a:ext cx="411480" cy="411480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86791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Container Management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View and manage LXD containers on a host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0" y="4526280"/>
            <a:ext cx="411480" cy="411480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89704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CVE Vulnerability Scan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Scan host packages against the CVE database</a:t>
            </a:r>
          </a:p>
        </p:txBody>
      </p:sp>
      <p:sp>
        <p:nvSpPr>
          <p:cNvPr id="34" name="Oval 33"/>
          <p:cNvSpPr/>
          <p:nvPr/>
        </p:nvSpPr>
        <p:spPr>
          <a:xfrm>
            <a:off x="5943600" y="5148072"/>
            <a:ext cx="411480" cy="411480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111496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Alerting Configuration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Configure Email, Webhook, Slack, and Teams alerts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0" y="5769864"/>
            <a:ext cx="411480" cy="411480"/>
          </a:xfrm>
          <a:prstGeom prst="ellipse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733288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D5C"/>
                </a:solidFill>
                <a:latin typeface="Arial"/>
              </a:rPr>
              <a:t>Audit Log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66666"/>
                </a:solidFill>
                <a:latin typeface="Arial"/>
              </a:rPr>
              <a:t>Browse tamper-evident audit trail with hash chain verification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D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smanage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7548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BBDEFB"/>
                </a:solidFill>
                <a:latin typeface="Arial"/>
              </a:rPr>
              <a:t>30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17520" cy="3657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What You Just Saw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Real-time monitoring — live CPU, RAM, disk, network metrics via WebSocket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Cross-platform agents — same management experience on Linux, macOS, Windows, *BSD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One-click operations — package installs, user management, settings from the browser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Pro+ intelligence layer — AI health analysis, CIS/STIG compliance, CVE scanning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Enterprise-grade security — mTLS, tamper-evident audit logs, encrypted secrets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A2332"/>
                </a:solidFill>
                <a:latin typeface="Arial"/>
              </a:rPr>
              <a:t>•  Internationalized UI — seamless language switching across 14 languages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Codebase &amp; Development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01168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22 Months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Under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201168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1M+ Lines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of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201168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2,400+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Commits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188720"/>
            <a:ext cx="201168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72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Release Tags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188720"/>
            <a:ext cx="2011680" cy="82296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Repositories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28600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4572000"/>
                <a:gridCol w="18288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Started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Commits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sysmanage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Apr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Server: FastAPI + 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1,047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sysmanage-agent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Apr 2024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Agent: Python cross-platform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863 commits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sysmanage-docs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Docs site + 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334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sysmanage-professional-plus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Pro+ Cython modules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171 commits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4389120"/>
            <a:ext cx="347472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Server DB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74 tables • 799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389120"/>
            <a:ext cx="347472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Agent DB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7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389120"/>
            <a:ext cx="347472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Test Suite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775 files • 271K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3D5C"/>
                </a:solidFill>
                <a:latin typeface="Arial"/>
              </a:rPr>
              <a:t>Development velocity:  </a:t>
            </a:r>
            <a:r>
              <a:rPr sz="1100" b="0">
                <a:solidFill>
                  <a:srgbClr val="666666"/>
                </a:solidFill>
                <a:latin typeface="Arial"/>
              </a:rPr>
              <a:t>Q2 2024 → project start  |  Q3-Q4 2025 → major feature build (730+ commits)  |  Q1 2026 → Pro+ launch + stabilization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Roadmap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v0.9.0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Foundation
+ Core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v0.9.1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CI/CD
&amp;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v0.9.2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Mgmt
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Child Host
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v1.0.1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Virtualization
Expansion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v1.0.2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Platform
Maturity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143000"/>
            <a:ext cx="1463040" cy="10058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v1.1.0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Pro+
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9601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66666"/>
                </a:solidFill>
                <a:latin typeface="Arial"/>
              </a:rPr>
              <a:t>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468880"/>
            <a:ext cx="1508760" cy="14173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v1.2.0.0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Stabilization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✓ 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2468880"/>
            <a:ext cx="1508760" cy="141732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v1.3.0.0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Pro+ Prof.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✓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246888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v1.4.0.0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AV + Firewall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Apr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6944" y="246888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4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v1.5.0.0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Stabilization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May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1152" y="246888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5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v1.6.0.0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Auto + Fleet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May-Jun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46888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6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v1.7.0.0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Stabilization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Jun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59568" y="246888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7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v1.8.0.0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Stab. RC1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Jun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16052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8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v2.0.0.0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Foundation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Jul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38528" y="416052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9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v2.1.0.0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Stab. RC2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Aug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2736" y="416052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v2.2.0.0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Virt+Obs+MFA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Dec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66944" y="416052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11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v2.3.0.0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Air-Gapped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Jan 2027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416052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12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v2.4.0.0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Federation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Feb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4160520"/>
            <a:ext cx="1508760" cy="1417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Phase 13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v3.0.0.0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Enterprise GA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Mar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989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D3D5C"/>
                </a:solidFill>
                <a:latin typeface="Arial"/>
              </a:rPr>
              <a:t>Target: v3.0.0.0 Enterprise GA — Q1 2027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Futures: Near-Term (Phases 3–5)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9601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5486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v1.4.0.0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AV Management + Firewall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v1.5.0.0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Stabilization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v1.6.0.0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Automation + Fleet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May-Jun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Futures: Mid-Term (Phases 6–9)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5486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v1.7.0.0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Stabilization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v1.8.0.0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Stabilization RC1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Jun 2026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v2.0.0.0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Foundation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Jul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v2.1.0.0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Stabilization RC2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Aug 2026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Futures: Long-Term (Phases 10–13)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5486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D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v2.2.0.0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Virtualization + Observability + MFA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Dec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v2.3.0.0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Air-Gapped Support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Jan 2027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v2.4.0.0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Multi-Site Federation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Feb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v3.0.0.0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Enterprise GA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Arial"/>
                        </a:defRPr>
                      </a:pPr>
                      <a:r>
                        <a:t>Mar 2027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3716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Cross-Platform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  <a:latin typeface="Arial"/>
              </a:rPr>
              <a:t>6 operating systems — Linux, macOS, Windows, FreeBSD, OpenBSD, NetBSD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3716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Security-First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  <a:latin typeface="Arial"/>
              </a:rPr>
              <a:t>mTLS, JWT rotation, tamper-evident auditing, encrypted secrets, zero inbound agent 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3716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Open Source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  <a:latin typeface="Arial"/>
              </a:rPr>
              <a:t>AGPLv3 — transparent, auditable, community-driven foundation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13716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06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Commercial Pro+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72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  <a:latin typeface="Arial"/>
              </a:rPr>
              <a:t>Professional &amp; Enterprise tiers for compliance, AI health, CVE scanning, and more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37160" cy="6400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166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3D5C"/>
                </a:solidFill>
                <a:latin typeface="Arial"/>
              </a:rPr>
              <a:t>Active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  <a:latin typeface="Arial"/>
              </a:rPr>
              <a:t>13-phase plan targeting v3.0.0.0 Enterprise GA in Q1 2027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Partnership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SysManage  |  sysmanage.org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Customers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Organizations managing heterogeneous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    OS estates (Linux, macOS, Windows, *BSD)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Compliance-driven environments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    (SOC2, HIPAA, FedRAMP, CIS, DISA STIG)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Teams replacing expensive commercial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    management tools with open source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MSPs and IT service providers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Channel Partners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Managed service providers (MSPs)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Systems integrators &amp; consultancies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Value-added resellers (VARs)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Cloud hosting providers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Security &amp; compliance consultancies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•  Regional technology distributors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2E7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We're actively seeking both direct customers and channel partners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Open source core lowers barrier to entry  •  Pro+ tiers create partner revenue opportunities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D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smanag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4846320" cy="1321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BBDEFB"/>
                </a:solidFill>
                <a:latin typeface="Arial"/>
              </a:rPr>
              <a:t>sysmanage.org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Licensed under AGPLv3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